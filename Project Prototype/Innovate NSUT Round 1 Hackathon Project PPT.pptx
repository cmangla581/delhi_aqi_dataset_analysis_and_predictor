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367F-3D0C-4599-41CB-F69CBB21FB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658FEFA-3F17-445B-F5B7-0C3B3E8622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4D177A-16E1-8104-47CB-96759AFC88BB}"/>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5" name="Footer Placeholder 4">
            <a:extLst>
              <a:ext uri="{FF2B5EF4-FFF2-40B4-BE49-F238E27FC236}">
                <a16:creationId xmlns:a16="http://schemas.microsoft.com/office/drawing/2014/main" id="{67EB458C-81C4-ED70-CB85-451FD91B76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C604CF-1449-54F3-AEDF-C32F4BA68398}"/>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430523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E2E5E-EDD7-24C0-4304-3487B72DC8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10D92D-9320-AAED-895B-00559243DF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423507-11CD-69C5-3B28-94543136AB79}"/>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5" name="Footer Placeholder 4">
            <a:extLst>
              <a:ext uri="{FF2B5EF4-FFF2-40B4-BE49-F238E27FC236}">
                <a16:creationId xmlns:a16="http://schemas.microsoft.com/office/drawing/2014/main" id="{814DD365-62A0-FAAF-1958-7A4EFC1344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A16FAB-A668-74A7-2550-F747E4214138}"/>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2482922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CDFA6-07D6-AEF6-3313-C7E71FC55D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F7ACE33-CD56-8892-A55D-7C7DCA547F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7433CA-29C1-AEEC-F821-F4B3EE2C0A40}"/>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5" name="Footer Placeholder 4">
            <a:extLst>
              <a:ext uri="{FF2B5EF4-FFF2-40B4-BE49-F238E27FC236}">
                <a16:creationId xmlns:a16="http://schemas.microsoft.com/office/drawing/2014/main" id="{2E07EBD1-869B-5004-395B-0B49332286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61F03D-E936-6624-BDFD-8EEC8A4EEC9F}"/>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4212443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2A104-4D5C-6682-181D-39589949E4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2A1517-CE4E-1CA6-FAE4-A38D623ED5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B76483-AD97-190B-2CB6-DA558CDFA1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4A5BE5-0F02-3252-5C3B-4EFD322C60E8}"/>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6" name="Footer Placeholder 5">
            <a:extLst>
              <a:ext uri="{FF2B5EF4-FFF2-40B4-BE49-F238E27FC236}">
                <a16:creationId xmlns:a16="http://schemas.microsoft.com/office/drawing/2014/main" id="{0785B6AF-ACA4-2E66-0EB2-740AC82216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43E25D-BB3C-B7C6-8355-DBE774BF06D1}"/>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1518919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3095F-20A2-D64E-823D-D0AD01793B0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571C8E0-9044-1E72-64FE-0AE79D0DCA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3A2754-F862-3C5E-8D7F-6FB49011BD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AEA240-0F55-9F75-C37D-8731032E58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E84655-1715-CBD5-6FBD-A376965A4C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22A9F5-B0B6-B47D-2E47-D5B00EAB2C35}"/>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8" name="Footer Placeholder 7">
            <a:extLst>
              <a:ext uri="{FF2B5EF4-FFF2-40B4-BE49-F238E27FC236}">
                <a16:creationId xmlns:a16="http://schemas.microsoft.com/office/drawing/2014/main" id="{FB056605-2262-9689-0105-2342230F89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F571291-255A-189E-4634-485914A93712}"/>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16812646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B474-0FE7-A9F4-A865-C6AC67D31F2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7960DA6-41FF-EE3D-71D0-D1E0D9BD379D}"/>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4" name="Footer Placeholder 3">
            <a:extLst>
              <a:ext uri="{FF2B5EF4-FFF2-40B4-BE49-F238E27FC236}">
                <a16:creationId xmlns:a16="http://schemas.microsoft.com/office/drawing/2014/main" id="{DE55C5D4-C6A7-5766-869E-0821C3990D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5ADDC18-91AD-BE74-039E-E877DBE35FE5}"/>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288777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EAD4F-1177-1301-E470-033ED9EE1FAF}"/>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3" name="Footer Placeholder 2">
            <a:extLst>
              <a:ext uri="{FF2B5EF4-FFF2-40B4-BE49-F238E27FC236}">
                <a16:creationId xmlns:a16="http://schemas.microsoft.com/office/drawing/2014/main" id="{D3DFE070-4BBB-0E2F-0053-0EE38386380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70F6699-3EAC-3150-CED2-E25D11DFCDBC}"/>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2242488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96C08-2D6C-FDDC-51A1-010E3DC3A5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5D951CA-555F-431B-940B-98B12EC9C0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C4A82EB-1C95-C9C2-7687-80758311E3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12D145-DD51-6EAC-3431-06702E591DF9}"/>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6" name="Footer Placeholder 5">
            <a:extLst>
              <a:ext uri="{FF2B5EF4-FFF2-40B4-BE49-F238E27FC236}">
                <a16:creationId xmlns:a16="http://schemas.microsoft.com/office/drawing/2014/main" id="{09F0096E-0385-DCA3-8323-D23C8669C43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DB6F899-2AF6-F57A-83F8-48393778EBA6}"/>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42447388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9C956-4EE7-5BBA-902A-424643B4EA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B0EE78-ED82-CB83-BB57-AC33959585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A83C6F-583F-3F08-C7B6-738CBF713E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E9676-A956-6999-1977-FAFB72E23793}"/>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6" name="Footer Placeholder 5">
            <a:extLst>
              <a:ext uri="{FF2B5EF4-FFF2-40B4-BE49-F238E27FC236}">
                <a16:creationId xmlns:a16="http://schemas.microsoft.com/office/drawing/2014/main" id="{66CCA27B-9409-AEB1-91EA-E3D6B5FF7D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683DBF-B005-01DD-3B60-96ACFC536A26}"/>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41328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95012-6B55-67CC-A3DB-BCA7DDD6E0C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25E15E-5D92-BFEC-A0F3-10B84BBEB1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528B32-ECD3-12A9-CBF7-B184E80F15E0}"/>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5" name="Footer Placeholder 4">
            <a:extLst>
              <a:ext uri="{FF2B5EF4-FFF2-40B4-BE49-F238E27FC236}">
                <a16:creationId xmlns:a16="http://schemas.microsoft.com/office/drawing/2014/main" id="{F9175549-9974-69A9-E2C3-C7069465D9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BA4169-DD04-DC56-8FF2-8DB15981DEBB}"/>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3592778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C7C2B0-705A-18E0-8149-17B46E44EC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DDC5F66-AF4F-500D-6E32-401C821C05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DB8575-99DB-A36E-6D41-653A7028708C}"/>
              </a:ext>
            </a:extLst>
          </p:cNvPr>
          <p:cNvSpPr>
            <a:spLocks noGrp="1"/>
          </p:cNvSpPr>
          <p:nvPr>
            <p:ph type="dt" sz="half" idx="10"/>
          </p:nvPr>
        </p:nvSpPr>
        <p:spPr/>
        <p:txBody>
          <a:bodyPr/>
          <a:lstStyle/>
          <a:p>
            <a:fld id="{AB3D0B58-1F65-41F9-B80A-50A0DC70AA9C}" type="datetimeFigureOut">
              <a:rPr lang="en-IN" smtClean="0"/>
              <a:t>23-01-2026</a:t>
            </a:fld>
            <a:endParaRPr lang="en-IN"/>
          </a:p>
        </p:txBody>
      </p:sp>
      <p:sp>
        <p:nvSpPr>
          <p:cNvPr id="5" name="Footer Placeholder 4">
            <a:extLst>
              <a:ext uri="{FF2B5EF4-FFF2-40B4-BE49-F238E27FC236}">
                <a16:creationId xmlns:a16="http://schemas.microsoft.com/office/drawing/2014/main" id="{C4117C42-F584-2977-C4FB-5782ECA882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C3AAB1-F378-FEEA-1AFC-715ACBC84863}"/>
              </a:ext>
            </a:extLst>
          </p:cNvPr>
          <p:cNvSpPr>
            <a:spLocks noGrp="1"/>
          </p:cNvSpPr>
          <p:nvPr>
            <p:ph type="sldNum" sz="quarter" idx="12"/>
          </p:nvPr>
        </p:nvSpPr>
        <p:spPr/>
        <p:txBody>
          <a:bodyPr/>
          <a:lstStyle/>
          <a:p>
            <a:fld id="{95E0E668-3503-4688-88DF-0675A01F887A}" type="slidenum">
              <a:rPr lang="en-IN" smtClean="0"/>
              <a:t>‹#›</a:t>
            </a:fld>
            <a:endParaRPr lang="en-IN"/>
          </a:p>
        </p:txBody>
      </p:sp>
    </p:spTree>
    <p:extLst>
      <p:ext uri="{BB962C8B-B14F-4D97-AF65-F5344CB8AC3E}">
        <p14:creationId xmlns:p14="http://schemas.microsoft.com/office/powerpoint/2010/main" val="1519756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FE52C5-0F30-73F4-3A80-B545AC33EC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C8F453-32B6-3AB0-232B-E256965ECD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421B63-40E3-CC80-4D9A-01FFDAEAA1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3D0B58-1F65-41F9-B80A-50A0DC70AA9C}" type="datetimeFigureOut">
              <a:rPr lang="en-IN" smtClean="0"/>
              <a:t>23-01-2026</a:t>
            </a:fld>
            <a:endParaRPr lang="en-IN"/>
          </a:p>
        </p:txBody>
      </p:sp>
      <p:sp>
        <p:nvSpPr>
          <p:cNvPr id="5" name="Footer Placeholder 4">
            <a:extLst>
              <a:ext uri="{FF2B5EF4-FFF2-40B4-BE49-F238E27FC236}">
                <a16:creationId xmlns:a16="http://schemas.microsoft.com/office/drawing/2014/main" id="{416C0382-4610-D8FA-0DF0-86EF9D661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3D93396-3699-E165-15F2-08C3CECABD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E0E668-3503-4688-88DF-0675A01F887A}" type="slidenum">
              <a:rPr lang="en-IN" smtClean="0"/>
              <a:t>‹#›</a:t>
            </a:fld>
            <a:endParaRPr lang="en-IN"/>
          </a:p>
        </p:txBody>
      </p:sp>
    </p:spTree>
    <p:extLst>
      <p:ext uri="{BB962C8B-B14F-4D97-AF65-F5344CB8AC3E}">
        <p14:creationId xmlns:p14="http://schemas.microsoft.com/office/powerpoint/2010/main" val="350764967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hyperlink" Target="https://cmangla-aqi-predictor.streamlit.app/" TargetMode="External"/><Relationship Id="rId4" Type="http://schemas.openxmlformats.org/officeDocument/2006/relationships/hyperlink" Target="https://github.com/cmangla581/Innovate_NSUT_Hackathon_Round1_AQI_Predictor_Analysis"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47924-D8A0-A93D-1E70-16E2B834FA77}"/>
              </a:ext>
            </a:extLst>
          </p:cNvPr>
          <p:cNvSpPr>
            <a:spLocks noGrp="1"/>
          </p:cNvSpPr>
          <p:nvPr>
            <p:ph type="ctrTitle"/>
          </p:nvPr>
        </p:nvSpPr>
        <p:spPr>
          <a:xfrm>
            <a:off x="0" y="0"/>
            <a:ext cx="12191999" cy="841407"/>
          </a:xfrm>
          <a:blipFill>
            <a:blip r:embed="rId2"/>
            <a:tile tx="0" ty="0" sx="100000" sy="100000" flip="none" algn="tl"/>
          </a:blipFill>
          <a:ln>
            <a:solidFill>
              <a:schemeClr val="accent2">
                <a:lumMod val="75000"/>
              </a:schemeClr>
            </a:solidFill>
          </a:ln>
        </p:spPr>
        <p:txBody>
          <a:bodyPr>
            <a:normAutofit/>
          </a:bodyPr>
          <a:lstStyle/>
          <a:p>
            <a:r>
              <a:rPr lang="en-US" sz="4000" b="1" dirty="0">
                <a:latin typeface="+mn-lt"/>
              </a:rPr>
              <a:t>Innovate NSUT Round 1 Hackathon Project</a:t>
            </a:r>
            <a:endParaRPr lang="en-IN" sz="4000" b="1" dirty="0">
              <a:latin typeface="+mn-lt"/>
            </a:endParaRPr>
          </a:p>
        </p:txBody>
      </p:sp>
      <p:sp>
        <p:nvSpPr>
          <p:cNvPr id="3" name="Subtitle 2">
            <a:extLst>
              <a:ext uri="{FF2B5EF4-FFF2-40B4-BE49-F238E27FC236}">
                <a16:creationId xmlns:a16="http://schemas.microsoft.com/office/drawing/2014/main" id="{F04E4E62-E84B-C545-607C-83613B5A9951}"/>
              </a:ext>
            </a:extLst>
          </p:cNvPr>
          <p:cNvSpPr>
            <a:spLocks noGrp="1"/>
          </p:cNvSpPr>
          <p:nvPr>
            <p:ph type="subTitle" idx="1"/>
          </p:nvPr>
        </p:nvSpPr>
        <p:spPr>
          <a:xfrm>
            <a:off x="0" y="841407"/>
            <a:ext cx="12192000" cy="6016593"/>
          </a:xfrm>
          <a:solidFill>
            <a:schemeClr val="accent4">
              <a:lumMod val="20000"/>
              <a:lumOff val="80000"/>
            </a:schemeClr>
          </a:solidFill>
          <a:ln w="76200">
            <a:solidFill>
              <a:schemeClr val="tx1">
                <a:lumMod val="95000"/>
                <a:lumOff val="5000"/>
              </a:schemeClr>
            </a:solidFill>
          </a:ln>
        </p:spPr>
        <p:txBody>
          <a:bodyPr>
            <a:normAutofit/>
          </a:bodyPr>
          <a:lstStyle/>
          <a:p>
            <a:endParaRPr lang="en-US" sz="3600" b="1" dirty="0"/>
          </a:p>
          <a:p>
            <a:r>
              <a:rPr lang="en-IN" sz="3600" b="1" dirty="0"/>
              <a:t>Delhi Rejuvenation Mission </a:t>
            </a:r>
          </a:p>
          <a:p>
            <a:endParaRPr lang="en-IN" sz="3600" b="1" dirty="0"/>
          </a:p>
          <a:p>
            <a:r>
              <a:rPr lang="en-IN" sz="2800" b="1" dirty="0"/>
              <a:t>Project Title :  </a:t>
            </a:r>
          </a:p>
          <a:p>
            <a:r>
              <a:rPr lang="en-IN" sz="3600" b="1" dirty="0"/>
              <a:t>Delhi AQI Predictor and ML Dataset Analysis </a:t>
            </a:r>
          </a:p>
          <a:p>
            <a:endParaRPr lang="en-IN" sz="3600" b="1" dirty="0"/>
          </a:p>
          <a:p>
            <a:r>
              <a:rPr lang="en-IN" sz="3200" b="1" dirty="0"/>
              <a:t>Team Name : Bharat Innovators </a:t>
            </a:r>
          </a:p>
          <a:p>
            <a:r>
              <a:rPr lang="en-IN" sz="3200" b="1" dirty="0"/>
              <a:t>Team Member Name : Chaitanya Mangla (Individual) </a:t>
            </a:r>
          </a:p>
          <a:p>
            <a:r>
              <a:rPr lang="en-IN" sz="3200" b="1" dirty="0"/>
              <a:t>College : University School of Automation and Robotics, GGSIPU (EDC)</a:t>
            </a:r>
          </a:p>
        </p:txBody>
      </p:sp>
    </p:spTree>
    <p:extLst>
      <p:ext uri="{BB962C8B-B14F-4D97-AF65-F5344CB8AC3E}">
        <p14:creationId xmlns:p14="http://schemas.microsoft.com/office/powerpoint/2010/main" val="871765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AB3E2-E55B-A9A7-A0E4-63F3CFD06991}"/>
              </a:ext>
            </a:extLst>
          </p:cNvPr>
          <p:cNvSpPr>
            <a:spLocks noGrp="1"/>
          </p:cNvSpPr>
          <p:nvPr>
            <p:ph type="title"/>
          </p:nvPr>
        </p:nvSpPr>
        <p:spPr>
          <a:xfrm>
            <a:off x="0" y="1"/>
            <a:ext cx="12192000" cy="1119672"/>
          </a:xfrm>
          <a:blipFill>
            <a:blip r:embed="rId2"/>
            <a:tile tx="0" ty="0" sx="100000" sy="100000" flip="none" algn="tl"/>
          </a:blipFill>
          <a:effectLst>
            <a:glow rad="228600">
              <a:schemeClr val="accent2">
                <a:satMod val="175000"/>
                <a:alpha val="40000"/>
              </a:schemeClr>
            </a:glow>
          </a:effectLst>
        </p:spPr>
        <p:txBody>
          <a:bodyPr>
            <a:normAutofit/>
          </a:bodyPr>
          <a:lstStyle/>
          <a:p>
            <a:pPr algn="ctr"/>
            <a:r>
              <a:rPr lang="en-US" sz="5400" b="1" dirty="0">
                <a:latin typeface="+mn-lt"/>
              </a:rPr>
              <a:t>Delhi Rejuvenation</a:t>
            </a:r>
            <a:endParaRPr lang="en-IN" sz="5400" b="1" dirty="0">
              <a:latin typeface="+mn-lt"/>
            </a:endParaRPr>
          </a:p>
        </p:txBody>
      </p:sp>
      <p:sp>
        <p:nvSpPr>
          <p:cNvPr id="3" name="Content Placeholder 2">
            <a:extLst>
              <a:ext uri="{FF2B5EF4-FFF2-40B4-BE49-F238E27FC236}">
                <a16:creationId xmlns:a16="http://schemas.microsoft.com/office/drawing/2014/main" id="{D82E8C96-58B3-A083-8E6B-45D5BE335E4F}"/>
              </a:ext>
            </a:extLst>
          </p:cNvPr>
          <p:cNvSpPr>
            <a:spLocks noGrp="1"/>
          </p:cNvSpPr>
          <p:nvPr>
            <p:ph idx="1"/>
          </p:nvPr>
        </p:nvSpPr>
        <p:spPr>
          <a:xfrm>
            <a:off x="-1" y="1119673"/>
            <a:ext cx="12191999" cy="5738326"/>
          </a:xfrm>
          <a:blipFill>
            <a:blip r:embed="rId3"/>
            <a:tile tx="0" ty="0" sx="100000" sy="100000" flip="none" algn="tl"/>
          </a:blipFill>
          <a:effectLst>
            <a:glow rad="228600">
              <a:schemeClr val="accent4">
                <a:satMod val="175000"/>
                <a:alpha val="40000"/>
              </a:schemeClr>
            </a:glow>
          </a:effectLst>
        </p:spPr>
        <p:txBody>
          <a:bodyPr>
            <a:normAutofit/>
          </a:bodyPr>
          <a:lstStyle/>
          <a:p>
            <a:pPr marL="0" indent="0">
              <a:buNone/>
            </a:pPr>
            <a:endParaRPr lang="en-US" sz="3200" b="1" dirty="0"/>
          </a:p>
          <a:p>
            <a:r>
              <a:rPr lang="en-US" b="1" dirty="0"/>
              <a:t>Delhi Rejuvenation refers to the comprehensive government led initiatives aiming to restore the ecological, environmental and aesthetic health of the city’s natural resources and the environment, primarily focusing on air pollution, cleaning the Yamuna River, reviving the lakes and developing the green spaces.    </a:t>
            </a:r>
          </a:p>
          <a:p>
            <a:pPr marL="0" indent="0">
              <a:buNone/>
            </a:pPr>
            <a:r>
              <a:rPr lang="en-US" b="1" dirty="0"/>
              <a:t>  But we all know that Air is the most basic necessity for living. Also, due to the      problem of excessive Air Pollution in Delhi,  the other development works and the project related to Delhi Rejuvenation gets delayed. </a:t>
            </a:r>
          </a:p>
          <a:p>
            <a:endParaRPr lang="en-US" b="1" dirty="0"/>
          </a:p>
          <a:p>
            <a:r>
              <a:rPr lang="en-US" b="1" dirty="0"/>
              <a:t>Hence, in my project I laid my specific stress on the problem of Excessive Air Pollution in Delhi and have built something to solve and reduce that problem which can be even used at home by common people at home, free of cost. </a:t>
            </a:r>
          </a:p>
          <a:p>
            <a:endParaRPr lang="en-US" b="1" dirty="0"/>
          </a:p>
          <a:p>
            <a:endParaRPr lang="en-US" b="1" dirty="0"/>
          </a:p>
          <a:p>
            <a:endParaRPr lang="en-US" b="1" dirty="0"/>
          </a:p>
          <a:p>
            <a:pPr marL="0" indent="0">
              <a:buNone/>
            </a:pPr>
            <a:endParaRPr lang="en-IN" sz="3200" b="1" dirty="0"/>
          </a:p>
        </p:txBody>
      </p:sp>
    </p:spTree>
    <p:extLst>
      <p:ext uri="{BB962C8B-B14F-4D97-AF65-F5344CB8AC3E}">
        <p14:creationId xmlns:p14="http://schemas.microsoft.com/office/powerpoint/2010/main" val="362133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E2F90-6AA3-A1A9-24B3-FD64BAAEB6B6}"/>
              </a:ext>
            </a:extLst>
          </p:cNvPr>
          <p:cNvSpPr>
            <a:spLocks noGrp="1"/>
          </p:cNvSpPr>
          <p:nvPr>
            <p:ph type="title"/>
          </p:nvPr>
        </p:nvSpPr>
        <p:spPr>
          <a:xfrm>
            <a:off x="0" y="1"/>
            <a:ext cx="12192000" cy="1222309"/>
          </a:xfrm>
          <a:blipFill>
            <a:blip r:embed="rId2"/>
            <a:tile tx="0" ty="0" sx="100000" sy="100000" flip="none" algn="tl"/>
          </a:blipFill>
          <a:effectLst>
            <a:glow rad="228600">
              <a:schemeClr val="accent5">
                <a:satMod val="175000"/>
                <a:alpha val="40000"/>
              </a:schemeClr>
            </a:glow>
          </a:effectLst>
        </p:spPr>
        <p:txBody>
          <a:bodyPr>
            <a:normAutofit/>
          </a:bodyPr>
          <a:lstStyle/>
          <a:p>
            <a:pPr algn="ctr"/>
            <a:r>
              <a:rPr lang="en-US" b="1" dirty="0">
                <a:latin typeface="+mn-lt"/>
              </a:rPr>
              <a:t>Delhi AQI Predictor</a:t>
            </a:r>
            <a:endParaRPr lang="en-IN" b="1" dirty="0">
              <a:latin typeface="+mn-lt"/>
            </a:endParaRPr>
          </a:p>
        </p:txBody>
      </p:sp>
      <p:sp>
        <p:nvSpPr>
          <p:cNvPr id="3" name="Content Placeholder 2">
            <a:extLst>
              <a:ext uri="{FF2B5EF4-FFF2-40B4-BE49-F238E27FC236}">
                <a16:creationId xmlns:a16="http://schemas.microsoft.com/office/drawing/2014/main" id="{5BC4C9B2-BE6D-8A7E-2876-68F8230BF844}"/>
              </a:ext>
            </a:extLst>
          </p:cNvPr>
          <p:cNvSpPr>
            <a:spLocks noGrp="1"/>
          </p:cNvSpPr>
          <p:nvPr>
            <p:ph idx="1"/>
          </p:nvPr>
        </p:nvSpPr>
        <p:spPr>
          <a:xfrm>
            <a:off x="0" y="1222310"/>
            <a:ext cx="12192000" cy="5635689"/>
          </a:xfrm>
          <a:blipFill>
            <a:blip r:embed="rId3"/>
            <a:tile tx="0" ty="0" sx="100000" sy="100000" flip="none" algn="tl"/>
          </a:blipFill>
          <a:effectLst>
            <a:glow rad="228600">
              <a:schemeClr val="accent4">
                <a:satMod val="175000"/>
                <a:alpha val="40000"/>
              </a:schemeClr>
            </a:glow>
          </a:effectLst>
        </p:spPr>
        <p:txBody>
          <a:bodyPr/>
          <a:lstStyle/>
          <a:p>
            <a:endParaRPr lang="en-US" dirty="0"/>
          </a:p>
          <a:p>
            <a:r>
              <a:rPr lang="en-IN" sz="2400" b="1" dirty="0"/>
              <a:t>I’ve built an AQI Predictor for Delhi which is  used to predict the Air Quality Index. It also tells that how the air quality is based on the AQI range.  </a:t>
            </a:r>
          </a:p>
          <a:p>
            <a:r>
              <a:rPr lang="en-IN" sz="2400" b="1" dirty="0"/>
              <a:t>AQI Predictor helps in predicting the state of pollution and we can get an idea to  take specific steps.   </a:t>
            </a:r>
          </a:p>
          <a:p>
            <a:r>
              <a:rPr lang="en-IN" sz="2400" b="1" dirty="0"/>
              <a:t>Because, a problem can be taken into  account and solved only when we know the root cause behind it.   </a:t>
            </a:r>
          </a:p>
          <a:p>
            <a:r>
              <a:rPr lang="en-IN" sz="2400" b="1" dirty="0"/>
              <a:t>Hence, this predictor, predicts the air quality index and helps us in taking steps toward solving the problems.  </a:t>
            </a:r>
          </a:p>
          <a:p>
            <a:r>
              <a:rPr lang="en-IN" sz="2400" b="1" dirty="0"/>
              <a:t>The prediction of air quality index tells both the local people and the government to take steps. </a:t>
            </a:r>
          </a:p>
        </p:txBody>
      </p:sp>
    </p:spTree>
    <p:extLst>
      <p:ext uri="{BB962C8B-B14F-4D97-AF65-F5344CB8AC3E}">
        <p14:creationId xmlns:p14="http://schemas.microsoft.com/office/powerpoint/2010/main" val="596324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D87DE-A4A1-2E09-16E5-0E2798B8A057}"/>
              </a:ext>
            </a:extLst>
          </p:cNvPr>
          <p:cNvSpPr>
            <a:spLocks noGrp="1"/>
          </p:cNvSpPr>
          <p:nvPr>
            <p:ph type="title"/>
          </p:nvPr>
        </p:nvSpPr>
        <p:spPr>
          <a:xfrm>
            <a:off x="0" y="1"/>
            <a:ext cx="12192000" cy="1147664"/>
          </a:xfrm>
          <a:blipFill>
            <a:blip r:embed="rId2"/>
            <a:tile tx="0" ty="0" sx="100000" sy="100000" flip="none" algn="tl"/>
          </a:blipFill>
          <a:ln>
            <a:solidFill>
              <a:schemeClr val="accent4">
                <a:lumMod val="75000"/>
              </a:schemeClr>
            </a:solidFill>
          </a:ln>
        </p:spPr>
        <p:txBody>
          <a:bodyPr>
            <a:normAutofit/>
          </a:bodyPr>
          <a:lstStyle/>
          <a:p>
            <a:pPr algn="ctr"/>
            <a:r>
              <a:rPr lang="en-US" sz="3600" b="1" dirty="0">
                <a:latin typeface="+mn-lt"/>
              </a:rPr>
              <a:t>Machine Learning applied in Project</a:t>
            </a:r>
            <a:endParaRPr lang="en-IN" sz="3600" b="1" dirty="0">
              <a:latin typeface="+mn-lt"/>
            </a:endParaRPr>
          </a:p>
        </p:txBody>
      </p:sp>
      <p:sp>
        <p:nvSpPr>
          <p:cNvPr id="3" name="Content Placeholder 2">
            <a:extLst>
              <a:ext uri="{FF2B5EF4-FFF2-40B4-BE49-F238E27FC236}">
                <a16:creationId xmlns:a16="http://schemas.microsoft.com/office/drawing/2014/main" id="{3F39F6E6-54A6-725A-2C19-A466E4C97CA3}"/>
              </a:ext>
            </a:extLst>
          </p:cNvPr>
          <p:cNvSpPr>
            <a:spLocks noGrp="1"/>
          </p:cNvSpPr>
          <p:nvPr>
            <p:ph idx="1"/>
          </p:nvPr>
        </p:nvSpPr>
        <p:spPr>
          <a:xfrm>
            <a:off x="-1" y="1147666"/>
            <a:ext cx="12191999" cy="5710334"/>
          </a:xfrm>
          <a:blipFill>
            <a:blip r:embed="rId3"/>
            <a:tile tx="0" ty="0" sx="100000" sy="100000" flip="none" algn="tl"/>
          </a:blipFill>
          <a:ln>
            <a:solidFill>
              <a:srgbClr val="FFFF00"/>
            </a:solidFill>
          </a:ln>
        </p:spPr>
        <p:txBody>
          <a:bodyPr/>
          <a:lstStyle/>
          <a:p>
            <a:endParaRPr lang="en-US" dirty="0"/>
          </a:p>
          <a:p>
            <a:pPr algn="just"/>
            <a:r>
              <a:rPr lang="en-IN" b="1" dirty="0"/>
              <a:t>This project involves a huge amount of Machine Learning  as it analyses the Delhi Weather AQI Data and make predictions based on them.   </a:t>
            </a:r>
          </a:p>
          <a:p>
            <a:pPr algn="just"/>
            <a:endParaRPr lang="en-IN" b="1" dirty="0"/>
          </a:p>
          <a:p>
            <a:pPr algn="just"/>
            <a:r>
              <a:rPr lang="en-IN" b="1" dirty="0"/>
              <a:t>This project uses the famous Random Forest Regressor to  make predictions of the AQI. Random Forest Regressor is a famous supervised ML Algorithm that uses the decision trees to predict the numerical outcomes.  </a:t>
            </a:r>
          </a:p>
          <a:p>
            <a:pPr algn="just"/>
            <a:endParaRPr lang="en-IN" b="1" dirty="0"/>
          </a:p>
          <a:p>
            <a:pPr algn="just"/>
            <a:r>
              <a:rPr lang="en-IN" b="1" dirty="0"/>
              <a:t>The Random Forest Regressor predicts the outcome from machine learning and the data analysis. </a:t>
            </a:r>
          </a:p>
          <a:p>
            <a:pPr algn="just"/>
            <a:r>
              <a:rPr lang="en-IN" b="1" dirty="0"/>
              <a:t>Also, to make the project more useful for the users, a more handy </a:t>
            </a:r>
            <a:r>
              <a:rPr lang="en-IN" b="1" dirty="0" err="1"/>
              <a:t>Streamlit</a:t>
            </a:r>
            <a:r>
              <a:rPr lang="en-IN" b="1" dirty="0"/>
              <a:t> UI has been made. </a:t>
            </a:r>
          </a:p>
        </p:txBody>
      </p:sp>
    </p:spTree>
    <p:extLst>
      <p:ext uri="{BB962C8B-B14F-4D97-AF65-F5344CB8AC3E}">
        <p14:creationId xmlns:p14="http://schemas.microsoft.com/office/powerpoint/2010/main" val="2227742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B4E57-BB7D-3DF5-C31D-5B4C07E59BF7}"/>
              </a:ext>
            </a:extLst>
          </p:cNvPr>
          <p:cNvSpPr>
            <a:spLocks noGrp="1"/>
          </p:cNvSpPr>
          <p:nvPr>
            <p:ph type="title"/>
          </p:nvPr>
        </p:nvSpPr>
        <p:spPr>
          <a:xfrm>
            <a:off x="0" y="0"/>
            <a:ext cx="12192000" cy="1390262"/>
          </a:xfrm>
          <a:blipFill>
            <a:blip r:embed="rId2"/>
            <a:tile tx="0" ty="0" sx="100000" sy="100000" flip="none" algn="tl"/>
          </a:blipFill>
        </p:spPr>
        <p:txBody>
          <a:bodyPr>
            <a:normAutofit/>
          </a:bodyPr>
          <a:lstStyle/>
          <a:p>
            <a:pPr algn="ctr"/>
            <a:r>
              <a:rPr lang="en-US" sz="4000" b="1" dirty="0">
                <a:latin typeface="+mn-lt"/>
              </a:rPr>
              <a:t>Parameters for the Prediction</a:t>
            </a:r>
            <a:endParaRPr lang="en-IN" sz="4000" b="1" dirty="0">
              <a:latin typeface="+mn-lt"/>
            </a:endParaRPr>
          </a:p>
        </p:txBody>
      </p:sp>
      <p:sp>
        <p:nvSpPr>
          <p:cNvPr id="3" name="Content Placeholder 2">
            <a:extLst>
              <a:ext uri="{FF2B5EF4-FFF2-40B4-BE49-F238E27FC236}">
                <a16:creationId xmlns:a16="http://schemas.microsoft.com/office/drawing/2014/main" id="{2EFEE4FF-607C-9A12-0653-A119AEDA9576}"/>
              </a:ext>
            </a:extLst>
          </p:cNvPr>
          <p:cNvSpPr>
            <a:spLocks noGrp="1"/>
          </p:cNvSpPr>
          <p:nvPr>
            <p:ph idx="1"/>
          </p:nvPr>
        </p:nvSpPr>
        <p:spPr>
          <a:xfrm>
            <a:off x="0" y="1390262"/>
            <a:ext cx="12192000" cy="5383762"/>
          </a:xfrm>
          <a:blipFill>
            <a:blip r:embed="rId3"/>
            <a:tile tx="0" ty="0" sx="100000" sy="100000" flip="none" algn="tl"/>
          </a:blipFill>
          <a:effectLst>
            <a:glow rad="228600">
              <a:schemeClr val="accent5">
                <a:satMod val="175000"/>
                <a:alpha val="40000"/>
              </a:schemeClr>
            </a:glow>
          </a:effectLst>
        </p:spPr>
        <p:txBody>
          <a:bodyPr>
            <a:normAutofit lnSpcReduction="10000"/>
          </a:bodyPr>
          <a:lstStyle/>
          <a:p>
            <a:r>
              <a:rPr lang="en-US" sz="3200" b="1" dirty="0"/>
              <a:t>In this ML Project, the AQI Prediction has been made on 10 parameters : </a:t>
            </a:r>
            <a:r>
              <a:rPr lang="en-US" sz="2400" b="1" dirty="0"/>
              <a:t> </a:t>
            </a:r>
          </a:p>
          <a:p>
            <a:pPr marL="0" indent="0">
              <a:buNone/>
            </a:pPr>
            <a:r>
              <a:rPr lang="en-US" sz="2400" b="1" dirty="0"/>
              <a:t>1. Latitude </a:t>
            </a:r>
          </a:p>
          <a:p>
            <a:pPr marL="0" indent="0">
              <a:buNone/>
            </a:pPr>
            <a:r>
              <a:rPr lang="en-US" sz="2400" b="1" dirty="0"/>
              <a:t>2. Longitude</a:t>
            </a:r>
          </a:p>
          <a:p>
            <a:pPr marL="0" indent="0">
              <a:buNone/>
            </a:pPr>
            <a:r>
              <a:rPr lang="en-US" sz="2400" b="1" dirty="0"/>
              <a:t>3. Temperature </a:t>
            </a:r>
          </a:p>
          <a:p>
            <a:pPr marL="0" indent="0">
              <a:buNone/>
            </a:pPr>
            <a:r>
              <a:rPr lang="en-US" sz="2400" b="1" dirty="0"/>
              <a:t>4. Humidity </a:t>
            </a:r>
          </a:p>
          <a:p>
            <a:pPr marL="0" indent="0">
              <a:buNone/>
            </a:pPr>
            <a:r>
              <a:rPr lang="en-US" sz="2400" b="1" dirty="0"/>
              <a:t>5. Atmospheric Pressure measured in Millibars </a:t>
            </a:r>
          </a:p>
          <a:p>
            <a:pPr marL="0" indent="0">
              <a:buNone/>
            </a:pPr>
            <a:r>
              <a:rPr lang="en-US" sz="2400" b="1" dirty="0"/>
              <a:t>6. Windspeed </a:t>
            </a:r>
          </a:p>
          <a:p>
            <a:pPr marL="0" indent="0">
              <a:buNone/>
            </a:pPr>
            <a:r>
              <a:rPr lang="en-US" sz="2400" b="1" dirty="0"/>
              <a:t>7. PM 2.5 </a:t>
            </a:r>
          </a:p>
          <a:p>
            <a:pPr marL="0" indent="0">
              <a:buNone/>
            </a:pPr>
            <a:r>
              <a:rPr lang="en-US" sz="2400" b="1" dirty="0"/>
              <a:t>8. PM 10 </a:t>
            </a:r>
          </a:p>
          <a:p>
            <a:pPr marL="0" indent="0">
              <a:buNone/>
            </a:pPr>
            <a:r>
              <a:rPr lang="en-US" sz="2400" b="1" dirty="0"/>
              <a:t>9. CO </a:t>
            </a:r>
          </a:p>
          <a:p>
            <a:pPr marL="0" indent="0">
              <a:buNone/>
            </a:pPr>
            <a:r>
              <a:rPr lang="en-US" sz="2400" b="1" dirty="0"/>
              <a:t>10.  NO2 Level </a:t>
            </a:r>
          </a:p>
          <a:p>
            <a:pPr marL="0" indent="0">
              <a:buNone/>
            </a:pPr>
            <a:endParaRPr lang="en-US" sz="2400" b="1" dirty="0"/>
          </a:p>
          <a:p>
            <a:endParaRPr lang="en-IN" sz="3200" b="1" dirty="0"/>
          </a:p>
        </p:txBody>
      </p:sp>
    </p:spTree>
    <p:extLst>
      <p:ext uri="{BB962C8B-B14F-4D97-AF65-F5344CB8AC3E}">
        <p14:creationId xmlns:p14="http://schemas.microsoft.com/office/powerpoint/2010/main" val="2157867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751B-B93A-0E66-7C9A-A47EB892B0FE}"/>
              </a:ext>
            </a:extLst>
          </p:cNvPr>
          <p:cNvSpPr>
            <a:spLocks noGrp="1"/>
          </p:cNvSpPr>
          <p:nvPr>
            <p:ph type="title"/>
          </p:nvPr>
        </p:nvSpPr>
        <p:spPr>
          <a:xfrm>
            <a:off x="0" y="1"/>
            <a:ext cx="12192000" cy="1511558"/>
          </a:xfrm>
          <a:blipFill>
            <a:blip r:embed="rId2"/>
            <a:tile tx="0" ty="0" sx="100000" sy="100000" flip="none" algn="tl"/>
          </a:blipFill>
        </p:spPr>
        <p:txBody>
          <a:bodyPr>
            <a:normAutofit/>
          </a:bodyPr>
          <a:lstStyle/>
          <a:p>
            <a:pPr algn="ctr"/>
            <a:r>
              <a:rPr lang="en-US" sz="4000" b="1" dirty="0">
                <a:latin typeface="+mn-lt"/>
              </a:rPr>
              <a:t>Special Features in the Project </a:t>
            </a:r>
            <a:endParaRPr lang="en-IN" sz="4000" b="1" dirty="0">
              <a:latin typeface="+mn-lt"/>
            </a:endParaRPr>
          </a:p>
        </p:txBody>
      </p:sp>
      <p:sp>
        <p:nvSpPr>
          <p:cNvPr id="3" name="Content Placeholder 2">
            <a:extLst>
              <a:ext uri="{FF2B5EF4-FFF2-40B4-BE49-F238E27FC236}">
                <a16:creationId xmlns:a16="http://schemas.microsoft.com/office/drawing/2014/main" id="{5ACAD23C-797C-C46B-AE75-4FB325E832BA}"/>
              </a:ext>
            </a:extLst>
          </p:cNvPr>
          <p:cNvSpPr>
            <a:spLocks noGrp="1"/>
          </p:cNvSpPr>
          <p:nvPr>
            <p:ph idx="1"/>
          </p:nvPr>
        </p:nvSpPr>
        <p:spPr>
          <a:xfrm>
            <a:off x="-1" y="1511559"/>
            <a:ext cx="12191999" cy="5346440"/>
          </a:xfrm>
          <a:blipFill>
            <a:blip r:embed="rId3"/>
            <a:tile tx="0" ty="0" sx="100000" sy="100000" flip="none" algn="tl"/>
          </a:blipFill>
          <a:effectLst>
            <a:glow rad="228600">
              <a:schemeClr val="accent6">
                <a:satMod val="175000"/>
                <a:alpha val="40000"/>
              </a:schemeClr>
            </a:glow>
          </a:effectLst>
        </p:spPr>
        <p:txBody>
          <a:bodyPr>
            <a:normAutofit/>
          </a:bodyPr>
          <a:lstStyle/>
          <a:p>
            <a:pPr algn="just"/>
            <a:r>
              <a:rPr lang="en-US" b="1" dirty="0"/>
              <a:t>A special feature in the project is that it tells predictions based on Latitude and Longitude positions, so it can make predictions precisely and accurately. </a:t>
            </a:r>
          </a:p>
          <a:p>
            <a:pPr algn="just"/>
            <a:endParaRPr lang="en-IN" b="1" dirty="0"/>
          </a:p>
          <a:p>
            <a:pPr algn="just"/>
            <a:r>
              <a:rPr lang="en-IN" b="1" dirty="0"/>
              <a:t>It means that any person sitting at home, if he has all the details, then he can predict the AQI of his particular place with accuracy. </a:t>
            </a:r>
          </a:p>
          <a:p>
            <a:pPr algn="just"/>
            <a:endParaRPr lang="en-IN" b="1" dirty="0"/>
          </a:p>
          <a:p>
            <a:pPr algn="just"/>
            <a:r>
              <a:rPr lang="en-IN" b="1" dirty="0"/>
              <a:t>The  R square Score is known  as the accuracy of the score. And here the accuracy score of the model is 0.94 which means that the overall accuracy of the model is around 94% . </a:t>
            </a:r>
            <a:endParaRPr lang="en-US" b="1" dirty="0"/>
          </a:p>
        </p:txBody>
      </p:sp>
    </p:spTree>
    <p:extLst>
      <p:ext uri="{BB962C8B-B14F-4D97-AF65-F5344CB8AC3E}">
        <p14:creationId xmlns:p14="http://schemas.microsoft.com/office/powerpoint/2010/main" val="1163479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660C6-92A2-8352-26EC-0ACEF20A200B}"/>
              </a:ext>
            </a:extLst>
          </p:cNvPr>
          <p:cNvSpPr>
            <a:spLocks noGrp="1"/>
          </p:cNvSpPr>
          <p:nvPr>
            <p:ph type="title"/>
          </p:nvPr>
        </p:nvSpPr>
        <p:spPr>
          <a:xfrm>
            <a:off x="0" y="1"/>
            <a:ext cx="12192000" cy="1287623"/>
          </a:xfrm>
          <a:blipFill>
            <a:blip r:embed="rId2"/>
            <a:tile tx="0" ty="0" sx="100000" sy="100000" flip="none" algn="tl"/>
          </a:blipFill>
          <a:effectLst>
            <a:glow rad="139700">
              <a:schemeClr val="accent5">
                <a:satMod val="175000"/>
                <a:alpha val="40000"/>
              </a:schemeClr>
            </a:glow>
          </a:effectLst>
        </p:spPr>
        <p:txBody>
          <a:bodyPr/>
          <a:lstStyle/>
          <a:p>
            <a:pPr algn="ctr"/>
            <a:r>
              <a:rPr lang="en-US" b="1" dirty="0">
                <a:latin typeface="+mn-lt"/>
              </a:rPr>
              <a:t>Prediction Intervals </a:t>
            </a:r>
            <a:endParaRPr lang="en-IN" b="1" dirty="0">
              <a:latin typeface="+mn-lt"/>
            </a:endParaRPr>
          </a:p>
        </p:txBody>
      </p:sp>
      <p:sp>
        <p:nvSpPr>
          <p:cNvPr id="3" name="Content Placeholder 2">
            <a:extLst>
              <a:ext uri="{FF2B5EF4-FFF2-40B4-BE49-F238E27FC236}">
                <a16:creationId xmlns:a16="http://schemas.microsoft.com/office/drawing/2014/main" id="{962D8938-ECE3-1686-81E5-8D4F8B3EF57C}"/>
              </a:ext>
            </a:extLst>
          </p:cNvPr>
          <p:cNvSpPr>
            <a:spLocks noGrp="1"/>
          </p:cNvSpPr>
          <p:nvPr>
            <p:ph idx="1"/>
          </p:nvPr>
        </p:nvSpPr>
        <p:spPr>
          <a:xfrm>
            <a:off x="0" y="1287624"/>
            <a:ext cx="12192000" cy="5570375"/>
          </a:xfrm>
          <a:blipFill>
            <a:blip r:embed="rId3"/>
            <a:tile tx="0" ty="0" sx="100000" sy="100000" flip="none" algn="tl"/>
          </a:blipFill>
          <a:effectLst>
            <a:glow rad="228600">
              <a:schemeClr val="accent2">
                <a:satMod val="175000"/>
                <a:alpha val="40000"/>
              </a:schemeClr>
            </a:glow>
          </a:effectLst>
        </p:spPr>
        <p:txBody>
          <a:bodyPr/>
          <a:lstStyle/>
          <a:p>
            <a:pPr algn="just"/>
            <a:r>
              <a:rPr lang="en-US" b="1" dirty="0"/>
              <a:t>The intervals of the predictions include : </a:t>
            </a:r>
          </a:p>
          <a:p>
            <a:pPr marL="514350" indent="-514350" algn="just">
              <a:buAutoNum type="arabicPeriod"/>
            </a:pPr>
            <a:r>
              <a:rPr lang="en-US" b="1" dirty="0"/>
              <a:t>AQI  0-50 : Excellent Air Quality </a:t>
            </a:r>
          </a:p>
          <a:p>
            <a:pPr marL="514350" indent="-514350" algn="just">
              <a:buAutoNum type="arabicPeriod" startAt="2"/>
            </a:pPr>
            <a:r>
              <a:rPr lang="en-US" b="1" dirty="0"/>
              <a:t>AQI  51-100 :  Good Air Quality </a:t>
            </a:r>
            <a:endParaRPr lang="en-IN" b="1" dirty="0"/>
          </a:p>
          <a:p>
            <a:pPr marL="514350" indent="-514350" algn="just">
              <a:buAutoNum type="arabicPeriod" startAt="3"/>
            </a:pPr>
            <a:r>
              <a:rPr lang="en-IN" b="1" dirty="0"/>
              <a:t>AQI  101- 200  :  Moderate Air Quality  </a:t>
            </a:r>
          </a:p>
          <a:p>
            <a:pPr marL="514350" indent="-514350" algn="just">
              <a:buAutoNum type="arabicPeriod" startAt="4"/>
            </a:pPr>
            <a:r>
              <a:rPr lang="en-IN" b="1" dirty="0"/>
              <a:t>AQI  201 – 300  : Poor Air Quality </a:t>
            </a:r>
          </a:p>
          <a:p>
            <a:pPr marL="514350" indent="-514350" algn="just">
              <a:buAutoNum type="arabicPeriod" startAt="5"/>
            </a:pPr>
            <a:r>
              <a:rPr lang="en-IN" b="1" dirty="0"/>
              <a:t>AQI   Above 300  :  Severe Air Pollution  </a:t>
            </a:r>
          </a:p>
          <a:p>
            <a:pPr marL="514350" indent="-514350" algn="just">
              <a:buAutoNum type="arabicPeriod" startAt="5"/>
            </a:pPr>
            <a:endParaRPr lang="en-US" b="1" dirty="0"/>
          </a:p>
          <a:p>
            <a:pPr marL="0" indent="0" algn="just">
              <a:buNone/>
            </a:pPr>
            <a:r>
              <a:rPr lang="en-US" b="1" dirty="0"/>
              <a:t>So, here these are the intervals  of AQI and their respective verdicts.  Here, upon the prediction of last 3 verdicts, there are various solutions given by the app to improve the air quality index which should be applied.  </a:t>
            </a:r>
            <a:endParaRPr lang="en-IN" b="1" dirty="0"/>
          </a:p>
        </p:txBody>
      </p:sp>
    </p:spTree>
    <p:extLst>
      <p:ext uri="{BB962C8B-B14F-4D97-AF65-F5344CB8AC3E}">
        <p14:creationId xmlns:p14="http://schemas.microsoft.com/office/powerpoint/2010/main" val="3612086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B83E-AE13-8174-C8C9-B1202164534B}"/>
              </a:ext>
            </a:extLst>
          </p:cNvPr>
          <p:cNvSpPr>
            <a:spLocks noGrp="1"/>
          </p:cNvSpPr>
          <p:nvPr>
            <p:ph type="title"/>
          </p:nvPr>
        </p:nvSpPr>
        <p:spPr>
          <a:xfrm>
            <a:off x="0" y="0"/>
            <a:ext cx="12192000" cy="1026368"/>
          </a:xfrm>
          <a:blipFill>
            <a:blip r:embed="rId2"/>
            <a:tile tx="0" ty="0" sx="100000" sy="100000" flip="none" algn="tl"/>
          </a:blipFill>
        </p:spPr>
        <p:txBody>
          <a:bodyPr>
            <a:normAutofit/>
          </a:bodyPr>
          <a:lstStyle/>
          <a:p>
            <a:pPr algn="ctr"/>
            <a:r>
              <a:rPr lang="en-US" b="1" dirty="0">
                <a:latin typeface="+mn-lt"/>
              </a:rPr>
              <a:t>Solutions to Verdicts </a:t>
            </a:r>
            <a:endParaRPr lang="en-IN" b="1" dirty="0">
              <a:latin typeface="+mn-lt"/>
            </a:endParaRPr>
          </a:p>
        </p:txBody>
      </p:sp>
      <p:sp>
        <p:nvSpPr>
          <p:cNvPr id="3" name="Content Placeholder 2">
            <a:extLst>
              <a:ext uri="{FF2B5EF4-FFF2-40B4-BE49-F238E27FC236}">
                <a16:creationId xmlns:a16="http://schemas.microsoft.com/office/drawing/2014/main" id="{095101AB-E6EC-0057-351D-67EC2E645384}"/>
              </a:ext>
            </a:extLst>
          </p:cNvPr>
          <p:cNvSpPr>
            <a:spLocks noGrp="1"/>
          </p:cNvSpPr>
          <p:nvPr>
            <p:ph idx="1"/>
          </p:nvPr>
        </p:nvSpPr>
        <p:spPr>
          <a:xfrm>
            <a:off x="-1" y="1026368"/>
            <a:ext cx="12191999" cy="5831632"/>
          </a:xfrm>
          <a:blipFill>
            <a:blip r:embed="rId3"/>
            <a:tile tx="0" ty="0" sx="100000" sy="100000" flip="none" algn="tl"/>
          </a:blipFill>
          <a:ln w="76200">
            <a:solidFill>
              <a:schemeClr val="tx1"/>
            </a:solidFill>
          </a:ln>
        </p:spPr>
        <p:txBody>
          <a:bodyPr>
            <a:normAutofit/>
          </a:bodyPr>
          <a:lstStyle/>
          <a:p>
            <a:pPr marL="0" indent="0">
              <a:buNone/>
            </a:pPr>
            <a:r>
              <a:rPr lang="en-US" sz="3200" b="1" dirty="0"/>
              <a:t>Solutions for AQI 101-200  :  </a:t>
            </a:r>
          </a:p>
          <a:p>
            <a:pPr marL="0" indent="0">
              <a:buNone/>
            </a:pPr>
            <a:r>
              <a:rPr lang="en-US" sz="2400" b="1" dirty="0"/>
              <a:t>1. Dust Management  2. Road Cleaning   3. Control Traffic Emissions  4. Public Awareness  </a:t>
            </a:r>
          </a:p>
          <a:p>
            <a:pPr marL="0" indent="0">
              <a:buNone/>
            </a:pPr>
            <a:endParaRPr lang="en-US" sz="2400" b="1" dirty="0"/>
          </a:p>
          <a:p>
            <a:pPr marL="0" indent="0">
              <a:buNone/>
            </a:pPr>
            <a:r>
              <a:rPr lang="en-US" sz="3200" b="1" dirty="0"/>
              <a:t>Solutions for AQI  201-300  : </a:t>
            </a:r>
          </a:p>
          <a:p>
            <a:pPr marL="0" indent="0">
              <a:buNone/>
            </a:pPr>
            <a:r>
              <a:rPr lang="en-IN" sz="2400" b="1" dirty="0"/>
              <a:t>1.Implement GRAP Stage 1    2.Restrict diesel generators    3.Enforce Dust Control   </a:t>
            </a:r>
          </a:p>
          <a:p>
            <a:pPr marL="0" indent="0">
              <a:buNone/>
            </a:pPr>
            <a:r>
              <a:rPr lang="en-IN" sz="2400" b="1" dirty="0"/>
              <a:t>4. Encourage Electric Vehicles  </a:t>
            </a:r>
          </a:p>
          <a:p>
            <a:pPr marL="0" indent="0">
              <a:buNone/>
            </a:pPr>
            <a:endParaRPr lang="en-IN" sz="2400" b="1" dirty="0"/>
          </a:p>
          <a:p>
            <a:pPr marL="0" indent="0">
              <a:buNone/>
            </a:pPr>
            <a:r>
              <a:rPr lang="en-IN" sz="3200" b="1" dirty="0"/>
              <a:t>Solutions for AQI  Above 300  :  </a:t>
            </a:r>
          </a:p>
          <a:p>
            <a:pPr marL="0" indent="0">
              <a:buNone/>
            </a:pPr>
            <a:r>
              <a:rPr lang="en-IN" sz="2400" b="1" dirty="0"/>
              <a:t>1.Ban unessential construction   2.Vehicle Restrictions    3.Industrial Restrictions   </a:t>
            </a:r>
          </a:p>
          <a:p>
            <a:pPr marL="0" indent="0">
              <a:buNone/>
            </a:pPr>
            <a:r>
              <a:rPr lang="en-IN" sz="2400" b="1" dirty="0"/>
              <a:t>4.Encourage Electric Vehicles   5. Medical Support to Heart &amp; Lung Patients  </a:t>
            </a:r>
          </a:p>
        </p:txBody>
      </p:sp>
    </p:spTree>
    <p:extLst>
      <p:ext uri="{BB962C8B-B14F-4D97-AF65-F5344CB8AC3E}">
        <p14:creationId xmlns:p14="http://schemas.microsoft.com/office/powerpoint/2010/main" val="111621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85378-70EB-2D4D-31F3-DDDE77825309}"/>
              </a:ext>
            </a:extLst>
          </p:cNvPr>
          <p:cNvSpPr>
            <a:spLocks noGrp="1"/>
          </p:cNvSpPr>
          <p:nvPr>
            <p:ph type="title"/>
          </p:nvPr>
        </p:nvSpPr>
        <p:spPr>
          <a:xfrm>
            <a:off x="0" y="0"/>
            <a:ext cx="12192000" cy="849086"/>
          </a:xfrm>
          <a:blipFill>
            <a:blip r:embed="rId2"/>
            <a:tile tx="0" ty="0" sx="100000" sy="100000" flip="none" algn="tl"/>
          </a:blipFill>
        </p:spPr>
        <p:txBody>
          <a:bodyPr/>
          <a:lstStyle/>
          <a:p>
            <a:pPr algn="ctr"/>
            <a:r>
              <a:rPr lang="en-US" b="1" dirty="0">
                <a:latin typeface="+mn-lt"/>
              </a:rPr>
              <a:t>UI Screenshots</a:t>
            </a:r>
            <a:endParaRPr lang="en-IN" b="1" dirty="0">
              <a:latin typeface="+mn-lt"/>
            </a:endParaRPr>
          </a:p>
        </p:txBody>
      </p:sp>
      <p:pic>
        <p:nvPicPr>
          <p:cNvPr id="5" name="Content Placeholder 4">
            <a:extLst>
              <a:ext uri="{FF2B5EF4-FFF2-40B4-BE49-F238E27FC236}">
                <a16:creationId xmlns:a16="http://schemas.microsoft.com/office/drawing/2014/main" id="{906E1D7D-E5F3-119A-80A9-F509E43A2F2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rot="21388832">
            <a:off x="75055" y="1067357"/>
            <a:ext cx="5235010" cy="2499648"/>
          </a:xfrm>
          <a:prstGeom prst="rect">
            <a:avLst/>
          </a:prstGeom>
          <a:ln w="2286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0DB39E77-8188-7A23-E219-15B3DF6325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46907">
            <a:off x="6424290" y="1150855"/>
            <a:ext cx="5169159" cy="21917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a:extLst>
              <a:ext uri="{FF2B5EF4-FFF2-40B4-BE49-F238E27FC236}">
                <a16:creationId xmlns:a16="http://schemas.microsoft.com/office/drawing/2014/main" id="{DF7824FD-F764-B723-AB80-E74527937A7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21074866">
            <a:off x="181040" y="4131788"/>
            <a:ext cx="5530882" cy="2462676"/>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1" name="Picture 10">
            <a:extLst>
              <a:ext uri="{FF2B5EF4-FFF2-40B4-BE49-F238E27FC236}">
                <a16:creationId xmlns:a16="http://schemas.microsoft.com/office/drawing/2014/main" id="{9025458D-8FA7-8E4B-7ED9-D52D61FE82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84775" y="4043931"/>
            <a:ext cx="5057192" cy="2378595"/>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002801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CBF19-1E04-E253-DA66-67DC6E38CB15}"/>
              </a:ext>
            </a:extLst>
          </p:cNvPr>
          <p:cNvSpPr>
            <a:spLocks noGrp="1"/>
          </p:cNvSpPr>
          <p:nvPr>
            <p:ph type="title"/>
          </p:nvPr>
        </p:nvSpPr>
        <p:spPr>
          <a:xfrm>
            <a:off x="0" y="1"/>
            <a:ext cx="12192000" cy="1690688"/>
          </a:xfrm>
          <a:blipFill>
            <a:blip r:embed="rId2"/>
            <a:tile tx="0" ty="0" sx="100000" sy="100000" flip="none" algn="tl"/>
          </a:blipFill>
        </p:spPr>
        <p:txBody>
          <a:bodyPr/>
          <a:lstStyle/>
          <a:p>
            <a:pPr algn="ctr"/>
            <a:r>
              <a:rPr lang="en-US" b="1" dirty="0">
                <a:latin typeface="+mn-lt"/>
              </a:rPr>
              <a:t>Project Links</a:t>
            </a:r>
            <a:endParaRPr lang="en-IN" b="1" dirty="0">
              <a:latin typeface="+mn-lt"/>
            </a:endParaRPr>
          </a:p>
        </p:txBody>
      </p:sp>
      <p:sp>
        <p:nvSpPr>
          <p:cNvPr id="3" name="Content Placeholder 2">
            <a:extLst>
              <a:ext uri="{FF2B5EF4-FFF2-40B4-BE49-F238E27FC236}">
                <a16:creationId xmlns:a16="http://schemas.microsoft.com/office/drawing/2014/main" id="{4D33FF92-F1AD-B455-4569-0F5A13D454EF}"/>
              </a:ext>
            </a:extLst>
          </p:cNvPr>
          <p:cNvSpPr>
            <a:spLocks noGrp="1"/>
          </p:cNvSpPr>
          <p:nvPr>
            <p:ph idx="1"/>
          </p:nvPr>
        </p:nvSpPr>
        <p:spPr>
          <a:xfrm>
            <a:off x="-1" y="1690689"/>
            <a:ext cx="12191999" cy="5167310"/>
          </a:xfrm>
          <a:blipFill>
            <a:blip r:embed="rId3"/>
            <a:tile tx="0" ty="0" sx="100000" sy="100000" flip="none" algn="tl"/>
          </a:blipFill>
        </p:spPr>
        <p:txBody>
          <a:bodyPr/>
          <a:lstStyle/>
          <a:p>
            <a:pPr marL="0" indent="0" algn="ctr">
              <a:buNone/>
            </a:pPr>
            <a:endParaRPr lang="en-US" b="1" dirty="0"/>
          </a:p>
          <a:p>
            <a:pPr marL="0" indent="0">
              <a:buNone/>
            </a:pPr>
            <a:r>
              <a:rPr lang="en-US" b="1" dirty="0"/>
              <a:t>                               </a:t>
            </a:r>
            <a:r>
              <a:rPr lang="en-IN" b="1" dirty="0"/>
              <a:t>GitHub Repository :</a:t>
            </a:r>
            <a:r>
              <a:rPr lang="en-IN" dirty="0"/>
              <a:t>    </a:t>
            </a:r>
            <a:r>
              <a:rPr lang="en-IN" dirty="0">
                <a:hlinkClick r:id="rId4"/>
              </a:rPr>
              <a:t>Link </a:t>
            </a:r>
            <a:r>
              <a:rPr lang="en-IN" dirty="0"/>
              <a:t>  </a:t>
            </a:r>
          </a:p>
          <a:p>
            <a:pPr marL="0" indent="0">
              <a:buNone/>
            </a:pPr>
            <a:r>
              <a:rPr lang="en-IN" dirty="0"/>
              <a:t>                                 </a:t>
            </a:r>
          </a:p>
          <a:p>
            <a:pPr marL="0" indent="0">
              <a:buNone/>
            </a:pPr>
            <a:r>
              <a:rPr lang="en-IN" dirty="0"/>
              <a:t>                               </a:t>
            </a:r>
            <a:r>
              <a:rPr lang="en-IN" b="1" dirty="0" err="1"/>
              <a:t>Streamlit</a:t>
            </a:r>
            <a:r>
              <a:rPr lang="en-IN" b="1" dirty="0"/>
              <a:t> UI Frontend:  </a:t>
            </a:r>
            <a:r>
              <a:rPr lang="en-IN" dirty="0"/>
              <a:t> </a:t>
            </a:r>
            <a:r>
              <a:rPr lang="en-IN" dirty="0">
                <a:hlinkClick r:id="rId5"/>
              </a:rPr>
              <a:t>Link</a:t>
            </a:r>
            <a:r>
              <a:rPr lang="en-IN" dirty="0"/>
              <a:t> </a:t>
            </a:r>
          </a:p>
        </p:txBody>
      </p:sp>
    </p:spTree>
    <p:extLst>
      <p:ext uri="{BB962C8B-B14F-4D97-AF65-F5344CB8AC3E}">
        <p14:creationId xmlns:p14="http://schemas.microsoft.com/office/powerpoint/2010/main" val="3522945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1F019E-07DC-F117-AEC8-29D8995F486E}"/>
              </a:ext>
            </a:extLst>
          </p:cNvPr>
          <p:cNvSpPr>
            <a:spLocks noGrp="1"/>
          </p:cNvSpPr>
          <p:nvPr>
            <p:ph idx="1"/>
          </p:nvPr>
        </p:nvSpPr>
        <p:spPr>
          <a:xfrm>
            <a:off x="0" y="0"/>
            <a:ext cx="12192000" cy="6858000"/>
          </a:xfrm>
          <a:blipFill>
            <a:blip r:embed="rId2"/>
            <a:tile tx="0" ty="0" sx="100000" sy="100000" flip="none" algn="tl"/>
          </a:blipFill>
        </p:spPr>
        <p:txBody>
          <a:bodyPr>
            <a:normAutofit/>
          </a:bodyPr>
          <a:lstStyle/>
          <a:p>
            <a:pPr algn="ctr"/>
            <a:endParaRPr lang="en-US" sz="3600" b="1" dirty="0"/>
          </a:p>
          <a:p>
            <a:pPr algn="ctr"/>
            <a:endParaRPr lang="en-IN" sz="3600" b="1" dirty="0"/>
          </a:p>
          <a:p>
            <a:pPr algn="ctr"/>
            <a:endParaRPr lang="en-IN" sz="3600" b="1" dirty="0"/>
          </a:p>
          <a:p>
            <a:pPr marL="0" indent="0" algn="ctr">
              <a:buNone/>
            </a:pPr>
            <a:endParaRPr lang="en-IN" sz="3600" b="1" dirty="0"/>
          </a:p>
          <a:p>
            <a:pPr marL="0" indent="0" algn="ctr">
              <a:buNone/>
            </a:pPr>
            <a:r>
              <a:rPr lang="en-IN" sz="4800" b="1" dirty="0"/>
              <a:t>Thank You </a:t>
            </a:r>
          </a:p>
          <a:p>
            <a:pPr marL="0" indent="0" algn="ctr">
              <a:buNone/>
            </a:pPr>
            <a:r>
              <a:rPr lang="en-IN" b="1" dirty="0"/>
              <a:t>          A  Power Point Presentation made by  Chaitanya Mangla, member of           Bharat Innovators </a:t>
            </a:r>
          </a:p>
        </p:txBody>
      </p:sp>
    </p:spTree>
    <p:extLst>
      <p:ext uri="{BB962C8B-B14F-4D97-AF65-F5344CB8AC3E}">
        <p14:creationId xmlns:p14="http://schemas.microsoft.com/office/powerpoint/2010/main" val="3401518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195</TotalTime>
  <Words>755</Words>
  <Application>Microsoft Office PowerPoint</Application>
  <PresentationFormat>Widescreen</PresentationFormat>
  <Paragraphs>83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Innovate NSUT Round 1 Hackathon Project</vt:lpstr>
      <vt:lpstr>Delhi Rejuvenation</vt:lpstr>
      <vt:lpstr>Delhi AQI Predictor</vt:lpstr>
      <vt:lpstr>Machine Learning applied in Project</vt:lpstr>
      <vt:lpstr>Parameters for the Prediction</vt:lpstr>
      <vt:lpstr>Special Features in the Project </vt:lpstr>
      <vt:lpstr>Prediction Intervals </vt:lpstr>
      <vt:lpstr>Solutions to Verdicts </vt:lpstr>
      <vt:lpstr>UI Screenshots</vt:lpstr>
      <vt:lpstr>Project Links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Chaitanya Mangla</dc:creator>
  <cp:lastModifiedBy>Chaitanya Mangla</cp:lastModifiedBy>
  <cp:revision>6</cp:revision>
  <dcterms:created xsi:type="dcterms:W3CDTF">2026-01-23T13:18:44Z</dcterms:created>
  <dcterms:modified xsi:type="dcterms:W3CDTF">2026-01-23T17:20:11Z</dcterms:modified>
</cp:coreProperties>
</file>